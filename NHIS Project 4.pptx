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F00788-CC04-4B93-894B-3F0F7A007444}" v="40" dt="2026-04-26T20:10:53.801"/>
    <p1510:client id="{E6B11672-D670-5089-A6EF-56B3C7157257}" v="178" dt="2026-04-26T21:25:46.106"/>
    <p1510:client id="{FCAFD43F-7A57-4EE4-AE20-1473F1D9EF10}" v="17" dt="2026-04-27T09:21:14.9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335383-C9C7-4B12-B190-0B168964AB5A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FC6C35-7BFC-4507-AA41-497A2E84F3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Objective:</a:t>
          </a:r>
          <a:r>
            <a:rPr lang="en-US"/>
            <a:t> Transforming raw specs into strategic categories.</a:t>
          </a:r>
        </a:p>
      </dgm:t>
    </dgm:pt>
    <dgm:pt modelId="{CE075AB5-3D5E-4FAD-94F9-2C53807DA42C}" type="parTrans" cxnId="{0E13AE27-2AF5-4349-9306-8E0BF6BC5F7A}">
      <dgm:prSet/>
      <dgm:spPr/>
      <dgm:t>
        <a:bodyPr/>
        <a:lstStyle/>
        <a:p>
          <a:endParaRPr lang="en-US"/>
        </a:p>
      </dgm:t>
    </dgm:pt>
    <dgm:pt modelId="{612023A3-2998-4BE4-BA78-9C0CC517D525}" type="sibTrans" cxnId="{0E13AE27-2AF5-4349-9306-8E0BF6BC5F7A}">
      <dgm:prSet/>
      <dgm:spPr/>
      <dgm:t>
        <a:bodyPr/>
        <a:lstStyle/>
        <a:p>
          <a:endParaRPr lang="en-US"/>
        </a:p>
      </dgm:t>
    </dgm:pt>
    <dgm:pt modelId="{AA73F87C-0981-420F-9BEF-485EC6FE75F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New Features Created:</a:t>
          </a:r>
          <a:endParaRPr lang="en-US"/>
        </a:p>
      </dgm:t>
    </dgm:pt>
    <dgm:pt modelId="{F0A7E9DC-DAB4-40BD-B9B4-FDDD3CBB2420}" type="parTrans" cxnId="{A58908B9-6D82-4747-A1BD-9D72F85FE4AF}">
      <dgm:prSet/>
      <dgm:spPr/>
      <dgm:t>
        <a:bodyPr/>
        <a:lstStyle/>
        <a:p>
          <a:endParaRPr lang="en-US"/>
        </a:p>
      </dgm:t>
    </dgm:pt>
    <dgm:pt modelId="{5CCF3D0C-49E2-48BA-986B-8FB5F3B64784}" type="sibTrans" cxnId="{A58908B9-6D82-4747-A1BD-9D72F85FE4AF}">
      <dgm:prSet/>
      <dgm:spPr/>
      <dgm:t>
        <a:bodyPr/>
        <a:lstStyle/>
        <a:p>
          <a:endParaRPr lang="en-US"/>
        </a:p>
      </dgm:t>
    </dgm:pt>
    <dgm:pt modelId="{65C04477-A649-422C-9F61-21E486C185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Price Segment:</a:t>
          </a:r>
          <a:r>
            <a:rPr lang="en-US"/>
            <a:t> Classified phones into 'Budget' (&lt;10k), 'Mid-Range' (10k-25k), and 'Flagship' (&gt;25k).</a:t>
          </a:r>
        </a:p>
      </dgm:t>
    </dgm:pt>
    <dgm:pt modelId="{18BFCAB7-54A4-4F26-B1CB-6BF09AB29875}" type="parTrans" cxnId="{C06CA7EA-3764-4BD8-BECF-4584585287E8}">
      <dgm:prSet/>
      <dgm:spPr/>
      <dgm:t>
        <a:bodyPr/>
        <a:lstStyle/>
        <a:p>
          <a:endParaRPr lang="en-US"/>
        </a:p>
      </dgm:t>
    </dgm:pt>
    <dgm:pt modelId="{02CDDD26-12EF-4E26-81F6-9A5FF3001F50}" type="sibTrans" cxnId="{C06CA7EA-3764-4BD8-BECF-4584585287E8}">
      <dgm:prSet/>
      <dgm:spPr/>
      <dgm:t>
        <a:bodyPr/>
        <a:lstStyle/>
        <a:p>
          <a:endParaRPr lang="en-US"/>
        </a:p>
      </dgm:t>
    </dgm:pt>
    <dgm:pt modelId="{D5105F75-3AC3-4B79-80F6-056CFB5238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Processor Brand:</a:t>
          </a:r>
          <a:r>
            <a:rPr lang="en-US"/>
            <a:t> Extracted core brand names (Snapdragon, MediaTek, Unisoc).</a:t>
          </a:r>
        </a:p>
      </dgm:t>
    </dgm:pt>
    <dgm:pt modelId="{D043D657-A866-429F-BEF9-CDF39D66DAF9}" type="parTrans" cxnId="{B1CBBA48-5F9B-401C-A935-43572F220D1C}">
      <dgm:prSet/>
      <dgm:spPr/>
      <dgm:t>
        <a:bodyPr/>
        <a:lstStyle/>
        <a:p>
          <a:endParaRPr lang="en-US"/>
        </a:p>
      </dgm:t>
    </dgm:pt>
    <dgm:pt modelId="{F91B72AE-0DC1-4C85-9BB8-2D06D2463271}" type="sibTrans" cxnId="{B1CBBA48-5F9B-401C-A935-43572F220D1C}">
      <dgm:prSet/>
      <dgm:spPr/>
      <dgm:t>
        <a:bodyPr/>
        <a:lstStyle/>
        <a:p>
          <a:endParaRPr lang="en-US"/>
        </a:p>
      </dgm:t>
    </dgm:pt>
    <dgm:pt modelId="{B177203E-9D8F-4BB1-A8B6-75598FDAD3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Mobile Brand:</a:t>
          </a:r>
          <a:r>
            <a:rPr lang="en-US"/>
            <a:t> Isolated brand names from model text for brand-value analysis.</a:t>
          </a:r>
        </a:p>
      </dgm:t>
    </dgm:pt>
    <dgm:pt modelId="{1C914E29-E104-4487-B69E-82500F5A6E7A}" type="parTrans" cxnId="{7E58A460-F409-4591-B47A-9874C0A5E71B}">
      <dgm:prSet/>
      <dgm:spPr/>
      <dgm:t>
        <a:bodyPr/>
        <a:lstStyle/>
        <a:p>
          <a:endParaRPr lang="en-US"/>
        </a:p>
      </dgm:t>
    </dgm:pt>
    <dgm:pt modelId="{D2617F13-F0C4-4FAC-8BC3-F20C74D71807}" type="sibTrans" cxnId="{7E58A460-F409-4591-B47A-9874C0A5E71B}">
      <dgm:prSet/>
      <dgm:spPr/>
      <dgm:t>
        <a:bodyPr/>
        <a:lstStyle/>
        <a:p>
          <a:endParaRPr lang="en-US"/>
        </a:p>
      </dgm:t>
    </dgm:pt>
    <dgm:pt modelId="{F31F353D-080C-4080-B07A-31BC988A92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Price per GB RAM:</a:t>
          </a:r>
          <a:r>
            <a:rPr lang="en-US"/>
            <a:t> Calculated efficiency metric to find "Value for Money" devices.</a:t>
          </a:r>
        </a:p>
      </dgm:t>
    </dgm:pt>
    <dgm:pt modelId="{EF5DA062-B46A-4AAE-B34F-F576A58B933A}" type="parTrans" cxnId="{7FF5DF36-43F7-49D2-8C62-A574912CEADA}">
      <dgm:prSet/>
      <dgm:spPr/>
      <dgm:t>
        <a:bodyPr/>
        <a:lstStyle/>
        <a:p>
          <a:endParaRPr lang="en-US"/>
        </a:p>
      </dgm:t>
    </dgm:pt>
    <dgm:pt modelId="{8A7EA11D-AB6E-4972-8DA3-70AB79DE81FD}" type="sibTrans" cxnId="{7FF5DF36-43F7-49D2-8C62-A574912CEADA}">
      <dgm:prSet/>
      <dgm:spPr/>
      <dgm:t>
        <a:bodyPr/>
        <a:lstStyle/>
        <a:p>
          <a:endParaRPr lang="en-US"/>
        </a:p>
      </dgm:t>
    </dgm:pt>
    <dgm:pt modelId="{8E77F82A-306E-432A-841C-1F48C7937283}" type="pres">
      <dgm:prSet presAssocID="{8D335383-C9C7-4B12-B190-0B168964AB5A}" presName="root" presStyleCnt="0">
        <dgm:presLayoutVars>
          <dgm:dir/>
          <dgm:resizeHandles val="exact"/>
        </dgm:presLayoutVars>
      </dgm:prSet>
      <dgm:spPr/>
    </dgm:pt>
    <dgm:pt modelId="{631C9D5A-FA61-40D9-8AFD-B781D2DF8E59}" type="pres">
      <dgm:prSet presAssocID="{FEFC6C35-7BFC-4507-AA41-497A2E84F3D6}" presName="compNode" presStyleCnt="0"/>
      <dgm:spPr/>
    </dgm:pt>
    <dgm:pt modelId="{4A00FA59-09C7-4615-AF59-17594254CE40}" type="pres">
      <dgm:prSet presAssocID="{FEFC6C35-7BFC-4507-AA41-497A2E84F3D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7C1D00C9-A25F-418D-AC36-9F765D005A32}" type="pres">
      <dgm:prSet presAssocID="{FEFC6C35-7BFC-4507-AA41-497A2E84F3D6}" presName="iconSpace" presStyleCnt="0"/>
      <dgm:spPr/>
    </dgm:pt>
    <dgm:pt modelId="{134B5776-57ED-467F-8C9F-85B0FAAE092F}" type="pres">
      <dgm:prSet presAssocID="{FEFC6C35-7BFC-4507-AA41-497A2E84F3D6}" presName="parTx" presStyleLbl="revTx" presStyleIdx="0" presStyleCnt="4">
        <dgm:presLayoutVars>
          <dgm:chMax val="0"/>
          <dgm:chPref val="0"/>
        </dgm:presLayoutVars>
      </dgm:prSet>
      <dgm:spPr/>
    </dgm:pt>
    <dgm:pt modelId="{50C3B9A5-AC72-4521-B539-4AA91DCBDD69}" type="pres">
      <dgm:prSet presAssocID="{FEFC6C35-7BFC-4507-AA41-497A2E84F3D6}" presName="txSpace" presStyleCnt="0"/>
      <dgm:spPr/>
    </dgm:pt>
    <dgm:pt modelId="{A66266AC-43FF-442B-81EA-6224EB644666}" type="pres">
      <dgm:prSet presAssocID="{FEFC6C35-7BFC-4507-AA41-497A2E84F3D6}" presName="desTx" presStyleLbl="revTx" presStyleIdx="1" presStyleCnt="4">
        <dgm:presLayoutVars/>
      </dgm:prSet>
      <dgm:spPr/>
    </dgm:pt>
    <dgm:pt modelId="{6C8BA5CE-F927-4ADE-943A-46B001AECE22}" type="pres">
      <dgm:prSet presAssocID="{612023A3-2998-4BE4-BA78-9C0CC517D525}" presName="sibTrans" presStyleCnt="0"/>
      <dgm:spPr/>
    </dgm:pt>
    <dgm:pt modelId="{A89E55A6-93EE-4F03-B704-1E2183FE61B0}" type="pres">
      <dgm:prSet presAssocID="{AA73F87C-0981-420F-9BEF-485EC6FE75F8}" presName="compNode" presStyleCnt="0"/>
      <dgm:spPr/>
    </dgm:pt>
    <dgm:pt modelId="{B99D8265-81BE-430E-B7AB-F800D1F78E64}" type="pres">
      <dgm:prSet presAssocID="{AA73F87C-0981-420F-9BEF-485EC6FE75F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E9A9DF0-D2A8-4AD7-A3C2-17FB3DC8B120}" type="pres">
      <dgm:prSet presAssocID="{AA73F87C-0981-420F-9BEF-485EC6FE75F8}" presName="iconSpace" presStyleCnt="0"/>
      <dgm:spPr/>
    </dgm:pt>
    <dgm:pt modelId="{6816BD6F-0861-4743-A7A4-45A49C741732}" type="pres">
      <dgm:prSet presAssocID="{AA73F87C-0981-420F-9BEF-485EC6FE75F8}" presName="parTx" presStyleLbl="revTx" presStyleIdx="2" presStyleCnt="4">
        <dgm:presLayoutVars>
          <dgm:chMax val="0"/>
          <dgm:chPref val="0"/>
        </dgm:presLayoutVars>
      </dgm:prSet>
      <dgm:spPr/>
    </dgm:pt>
    <dgm:pt modelId="{0B41DC32-47A9-4265-B1A2-938E36D58C3A}" type="pres">
      <dgm:prSet presAssocID="{AA73F87C-0981-420F-9BEF-485EC6FE75F8}" presName="txSpace" presStyleCnt="0"/>
      <dgm:spPr/>
    </dgm:pt>
    <dgm:pt modelId="{CF98E133-D4A0-4EBF-8C8E-5F6AB7F12352}" type="pres">
      <dgm:prSet presAssocID="{AA73F87C-0981-420F-9BEF-485EC6FE75F8}" presName="desTx" presStyleLbl="revTx" presStyleIdx="3" presStyleCnt="4">
        <dgm:presLayoutVars/>
      </dgm:prSet>
      <dgm:spPr/>
    </dgm:pt>
  </dgm:ptLst>
  <dgm:cxnLst>
    <dgm:cxn modelId="{9E8D2602-802C-4CF1-80C6-703D535C23A7}" type="presOf" srcId="{F31F353D-080C-4080-B07A-31BC988A92F3}" destId="{CF98E133-D4A0-4EBF-8C8E-5F6AB7F12352}" srcOrd="0" destOrd="3" presId="urn:microsoft.com/office/officeart/2018/2/layout/IconLabelDescriptionList"/>
    <dgm:cxn modelId="{30104903-7667-4B22-97ED-A649064FC562}" type="presOf" srcId="{B177203E-9D8F-4BB1-A8B6-75598FDAD315}" destId="{CF98E133-D4A0-4EBF-8C8E-5F6AB7F12352}" srcOrd="0" destOrd="2" presId="urn:microsoft.com/office/officeart/2018/2/layout/IconLabelDescriptionList"/>
    <dgm:cxn modelId="{37FC7B06-0483-426D-A8D7-A08769144C2E}" type="presOf" srcId="{D5105F75-3AC3-4B79-80F6-056CFB52381D}" destId="{CF98E133-D4A0-4EBF-8C8E-5F6AB7F12352}" srcOrd="0" destOrd="1" presId="urn:microsoft.com/office/officeart/2018/2/layout/IconLabelDescriptionList"/>
    <dgm:cxn modelId="{72BB1719-4889-4627-9723-12828C64565D}" type="presOf" srcId="{8D335383-C9C7-4B12-B190-0B168964AB5A}" destId="{8E77F82A-306E-432A-841C-1F48C7937283}" srcOrd="0" destOrd="0" presId="urn:microsoft.com/office/officeart/2018/2/layout/IconLabelDescriptionList"/>
    <dgm:cxn modelId="{0E13AE27-2AF5-4349-9306-8E0BF6BC5F7A}" srcId="{8D335383-C9C7-4B12-B190-0B168964AB5A}" destId="{FEFC6C35-7BFC-4507-AA41-497A2E84F3D6}" srcOrd="0" destOrd="0" parTransId="{CE075AB5-3D5E-4FAD-94F9-2C53807DA42C}" sibTransId="{612023A3-2998-4BE4-BA78-9C0CC517D525}"/>
    <dgm:cxn modelId="{7FF5DF36-43F7-49D2-8C62-A574912CEADA}" srcId="{AA73F87C-0981-420F-9BEF-485EC6FE75F8}" destId="{F31F353D-080C-4080-B07A-31BC988A92F3}" srcOrd="3" destOrd="0" parTransId="{EF5DA062-B46A-4AAE-B34F-F576A58B933A}" sibTransId="{8A7EA11D-AB6E-4972-8DA3-70AB79DE81FD}"/>
    <dgm:cxn modelId="{7E58A460-F409-4591-B47A-9874C0A5E71B}" srcId="{AA73F87C-0981-420F-9BEF-485EC6FE75F8}" destId="{B177203E-9D8F-4BB1-A8B6-75598FDAD315}" srcOrd="2" destOrd="0" parTransId="{1C914E29-E104-4487-B69E-82500F5A6E7A}" sibTransId="{D2617F13-F0C4-4FAC-8BC3-F20C74D71807}"/>
    <dgm:cxn modelId="{12A37D43-6668-40D3-A406-56D4CE12D7C0}" type="presOf" srcId="{65C04477-A649-422C-9F61-21E486C185CA}" destId="{CF98E133-D4A0-4EBF-8C8E-5F6AB7F12352}" srcOrd="0" destOrd="0" presId="urn:microsoft.com/office/officeart/2018/2/layout/IconLabelDescriptionList"/>
    <dgm:cxn modelId="{B1CBBA48-5F9B-401C-A935-43572F220D1C}" srcId="{AA73F87C-0981-420F-9BEF-485EC6FE75F8}" destId="{D5105F75-3AC3-4B79-80F6-056CFB52381D}" srcOrd="1" destOrd="0" parTransId="{D043D657-A866-429F-BEF9-CDF39D66DAF9}" sibTransId="{F91B72AE-0DC1-4C85-9BB8-2D06D2463271}"/>
    <dgm:cxn modelId="{09978559-482C-412C-B7FB-0165DD9949F5}" type="presOf" srcId="{FEFC6C35-7BFC-4507-AA41-497A2E84F3D6}" destId="{134B5776-57ED-467F-8C9F-85B0FAAE092F}" srcOrd="0" destOrd="0" presId="urn:microsoft.com/office/officeart/2018/2/layout/IconLabelDescriptionList"/>
    <dgm:cxn modelId="{A58908B9-6D82-4747-A1BD-9D72F85FE4AF}" srcId="{8D335383-C9C7-4B12-B190-0B168964AB5A}" destId="{AA73F87C-0981-420F-9BEF-485EC6FE75F8}" srcOrd="1" destOrd="0" parTransId="{F0A7E9DC-DAB4-40BD-B9B4-FDDD3CBB2420}" sibTransId="{5CCF3D0C-49E2-48BA-986B-8FB5F3B64784}"/>
    <dgm:cxn modelId="{991FD5D0-4EC9-47AF-BB0B-514F7A130038}" type="presOf" srcId="{AA73F87C-0981-420F-9BEF-485EC6FE75F8}" destId="{6816BD6F-0861-4743-A7A4-45A49C741732}" srcOrd="0" destOrd="0" presId="urn:microsoft.com/office/officeart/2018/2/layout/IconLabelDescriptionList"/>
    <dgm:cxn modelId="{C06CA7EA-3764-4BD8-BECF-4584585287E8}" srcId="{AA73F87C-0981-420F-9BEF-485EC6FE75F8}" destId="{65C04477-A649-422C-9F61-21E486C185CA}" srcOrd="0" destOrd="0" parTransId="{18BFCAB7-54A4-4F26-B1CB-6BF09AB29875}" sibTransId="{02CDDD26-12EF-4E26-81F6-9A5FF3001F50}"/>
    <dgm:cxn modelId="{3BA85788-4BE1-4D1D-B640-D1E8BED0F9CA}" type="presParOf" srcId="{8E77F82A-306E-432A-841C-1F48C7937283}" destId="{631C9D5A-FA61-40D9-8AFD-B781D2DF8E59}" srcOrd="0" destOrd="0" presId="urn:microsoft.com/office/officeart/2018/2/layout/IconLabelDescriptionList"/>
    <dgm:cxn modelId="{F6573877-1D2D-4963-B042-2948BC50BAA6}" type="presParOf" srcId="{631C9D5A-FA61-40D9-8AFD-B781D2DF8E59}" destId="{4A00FA59-09C7-4615-AF59-17594254CE40}" srcOrd="0" destOrd="0" presId="urn:microsoft.com/office/officeart/2018/2/layout/IconLabelDescriptionList"/>
    <dgm:cxn modelId="{56EA55AD-DF50-413A-9A86-CD63CBF170B6}" type="presParOf" srcId="{631C9D5A-FA61-40D9-8AFD-B781D2DF8E59}" destId="{7C1D00C9-A25F-418D-AC36-9F765D005A32}" srcOrd="1" destOrd="0" presId="urn:microsoft.com/office/officeart/2018/2/layout/IconLabelDescriptionList"/>
    <dgm:cxn modelId="{3D83B027-08CD-438B-BA86-C2D36838F0E6}" type="presParOf" srcId="{631C9D5A-FA61-40D9-8AFD-B781D2DF8E59}" destId="{134B5776-57ED-467F-8C9F-85B0FAAE092F}" srcOrd="2" destOrd="0" presId="urn:microsoft.com/office/officeart/2018/2/layout/IconLabelDescriptionList"/>
    <dgm:cxn modelId="{AC5680A8-5795-4360-94DF-4281D3591BCC}" type="presParOf" srcId="{631C9D5A-FA61-40D9-8AFD-B781D2DF8E59}" destId="{50C3B9A5-AC72-4521-B539-4AA91DCBDD69}" srcOrd="3" destOrd="0" presId="urn:microsoft.com/office/officeart/2018/2/layout/IconLabelDescriptionList"/>
    <dgm:cxn modelId="{3141C13A-B362-4A72-91F0-680167A49CD9}" type="presParOf" srcId="{631C9D5A-FA61-40D9-8AFD-B781D2DF8E59}" destId="{A66266AC-43FF-442B-81EA-6224EB644666}" srcOrd="4" destOrd="0" presId="urn:microsoft.com/office/officeart/2018/2/layout/IconLabelDescriptionList"/>
    <dgm:cxn modelId="{93D2148B-FC71-47FF-941B-975D9481989D}" type="presParOf" srcId="{8E77F82A-306E-432A-841C-1F48C7937283}" destId="{6C8BA5CE-F927-4ADE-943A-46B001AECE22}" srcOrd="1" destOrd="0" presId="urn:microsoft.com/office/officeart/2018/2/layout/IconLabelDescriptionList"/>
    <dgm:cxn modelId="{D7D58603-0048-4AAB-9A02-A73D4CDC0937}" type="presParOf" srcId="{8E77F82A-306E-432A-841C-1F48C7937283}" destId="{A89E55A6-93EE-4F03-B704-1E2183FE61B0}" srcOrd="2" destOrd="0" presId="urn:microsoft.com/office/officeart/2018/2/layout/IconLabelDescriptionList"/>
    <dgm:cxn modelId="{A219D71D-EEB2-47D4-B7E4-A7AD1AAEC4B8}" type="presParOf" srcId="{A89E55A6-93EE-4F03-B704-1E2183FE61B0}" destId="{B99D8265-81BE-430E-B7AB-F800D1F78E64}" srcOrd="0" destOrd="0" presId="urn:microsoft.com/office/officeart/2018/2/layout/IconLabelDescriptionList"/>
    <dgm:cxn modelId="{506BEAA3-AEAE-4EB9-AB3C-4DE048E8C475}" type="presParOf" srcId="{A89E55A6-93EE-4F03-B704-1E2183FE61B0}" destId="{7E9A9DF0-D2A8-4AD7-A3C2-17FB3DC8B120}" srcOrd="1" destOrd="0" presId="urn:microsoft.com/office/officeart/2018/2/layout/IconLabelDescriptionList"/>
    <dgm:cxn modelId="{C2AA9E6D-346E-43ED-B152-9869AF005D29}" type="presParOf" srcId="{A89E55A6-93EE-4F03-B704-1E2183FE61B0}" destId="{6816BD6F-0861-4743-A7A4-45A49C741732}" srcOrd="2" destOrd="0" presId="urn:microsoft.com/office/officeart/2018/2/layout/IconLabelDescriptionList"/>
    <dgm:cxn modelId="{06B133EE-1DDA-40E7-B872-DD9FDBDC2044}" type="presParOf" srcId="{A89E55A6-93EE-4F03-B704-1E2183FE61B0}" destId="{0B41DC32-47A9-4265-B1A2-938E36D58C3A}" srcOrd="3" destOrd="0" presId="urn:microsoft.com/office/officeart/2018/2/layout/IconLabelDescriptionList"/>
    <dgm:cxn modelId="{70AB91C1-5D48-4E48-9365-19022B4D8481}" type="presParOf" srcId="{A89E55A6-93EE-4F03-B704-1E2183FE61B0}" destId="{CF98E133-D4A0-4EBF-8C8E-5F6AB7F1235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22937C-CE06-4C46-B5B4-858EA874910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016479-E0CE-4D96-9E91-F76C127FCC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Analysis of Price per GB RAM:</a:t>
          </a:r>
          <a:endParaRPr lang="en-US"/>
        </a:p>
      </dgm:t>
    </dgm:pt>
    <dgm:pt modelId="{F07F3BE7-5BDD-4ACB-AE89-CB2D098A0A2F}" type="parTrans" cxnId="{256E63A2-A4BC-405F-9604-B16376018387}">
      <dgm:prSet/>
      <dgm:spPr/>
      <dgm:t>
        <a:bodyPr/>
        <a:lstStyle/>
        <a:p>
          <a:endParaRPr lang="en-US"/>
        </a:p>
      </dgm:t>
    </dgm:pt>
    <dgm:pt modelId="{22B94241-5467-4993-AE33-B4AEE4E02917}" type="sibTrans" cxnId="{256E63A2-A4BC-405F-9604-B16376018387}">
      <dgm:prSet/>
      <dgm:spPr/>
      <dgm:t>
        <a:bodyPr/>
        <a:lstStyle/>
        <a:p>
          <a:endParaRPr lang="en-US"/>
        </a:p>
      </dgm:t>
    </dgm:pt>
    <dgm:pt modelId="{4F6C6A4A-9049-47C3-9E5F-4B23F225B5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Budget Segment:</a:t>
          </a:r>
          <a:r>
            <a:rPr lang="en-US"/>
            <a:t> Offers the highest "Price per GB" efficiency.</a:t>
          </a:r>
        </a:p>
      </dgm:t>
    </dgm:pt>
    <dgm:pt modelId="{CE3A2549-939B-4F3A-A67D-5581921F80CE}" type="parTrans" cxnId="{65BA653E-4E19-4950-9B8E-E2BE861979D4}">
      <dgm:prSet/>
      <dgm:spPr/>
      <dgm:t>
        <a:bodyPr/>
        <a:lstStyle/>
        <a:p>
          <a:endParaRPr lang="en-US"/>
        </a:p>
      </dgm:t>
    </dgm:pt>
    <dgm:pt modelId="{8CC15C8B-D066-4E86-8389-72D6FE29692D}" type="sibTrans" cxnId="{65BA653E-4E19-4950-9B8E-E2BE861979D4}">
      <dgm:prSet/>
      <dgm:spPr/>
      <dgm:t>
        <a:bodyPr/>
        <a:lstStyle/>
        <a:p>
          <a:endParaRPr lang="en-US"/>
        </a:p>
      </dgm:t>
    </dgm:pt>
    <dgm:pt modelId="{3A7BFBD2-889D-4C9D-9A9B-769D716434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Flagship Segment:</a:t>
          </a:r>
          <a:r>
            <a:rPr lang="en-US"/>
            <a:t> Consumers pay a high premium for brand value and processor speed, even if RAM stays at 8GB.</a:t>
          </a:r>
        </a:p>
      </dgm:t>
    </dgm:pt>
    <dgm:pt modelId="{06D2113E-EA9E-4E82-B723-EEC795893B7A}" type="parTrans" cxnId="{106D73F3-058E-4F3D-B4A3-5880FFBC9971}">
      <dgm:prSet/>
      <dgm:spPr/>
      <dgm:t>
        <a:bodyPr/>
        <a:lstStyle/>
        <a:p>
          <a:endParaRPr lang="en-US"/>
        </a:p>
      </dgm:t>
    </dgm:pt>
    <dgm:pt modelId="{695B3C94-C43B-4A31-8EEF-68939B023AE9}" type="sibTrans" cxnId="{106D73F3-058E-4F3D-B4A3-5880FFBC9971}">
      <dgm:prSet/>
      <dgm:spPr/>
      <dgm:t>
        <a:bodyPr/>
        <a:lstStyle/>
        <a:p>
          <a:endParaRPr lang="en-US"/>
        </a:p>
      </dgm:t>
    </dgm:pt>
    <dgm:pt modelId="{1D9362E3-14AA-4763-A553-266E2925FE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Insight:</a:t>
          </a:r>
          <a:r>
            <a:rPr lang="en-US"/>
            <a:t> The "Value for Money" sweet spot lies in the </a:t>
          </a:r>
          <a:r>
            <a:rPr lang="en-US" b="1"/>
            <a:t>Mid-Range segment</a:t>
          </a:r>
          <a:r>
            <a:rPr lang="en-US"/>
            <a:t> with MediaTek Dimensity or Snapdragon 6-series chips.</a:t>
          </a:r>
        </a:p>
      </dgm:t>
    </dgm:pt>
    <dgm:pt modelId="{91C60020-4124-44F6-93AE-B1368B49FCD5}" type="parTrans" cxnId="{013E3412-B289-47A7-B3A0-30DECA02146C}">
      <dgm:prSet/>
      <dgm:spPr/>
      <dgm:t>
        <a:bodyPr/>
        <a:lstStyle/>
        <a:p>
          <a:endParaRPr lang="en-US"/>
        </a:p>
      </dgm:t>
    </dgm:pt>
    <dgm:pt modelId="{B0C79283-AE00-414D-8F21-06CFBB30AF1C}" type="sibTrans" cxnId="{013E3412-B289-47A7-B3A0-30DECA02146C}">
      <dgm:prSet/>
      <dgm:spPr/>
      <dgm:t>
        <a:bodyPr/>
        <a:lstStyle/>
        <a:p>
          <a:endParaRPr lang="en-US"/>
        </a:p>
      </dgm:t>
    </dgm:pt>
    <dgm:pt modelId="{35F4CD03-BA26-4FA5-AFF2-BF12671E5A55}" type="pres">
      <dgm:prSet presAssocID="{AB22937C-CE06-4C46-B5B4-858EA874910C}" presName="root" presStyleCnt="0">
        <dgm:presLayoutVars>
          <dgm:dir/>
          <dgm:resizeHandles val="exact"/>
        </dgm:presLayoutVars>
      </dgm:prSet>
      <dgm:spPr/>
    </dgm:pt>
    <dgm:pt modelId="{1E6CE0CF-B80B-4C53-982D-C44D6E880E60}" type="pres">
      <dgm:prSet presAssocID="{DD016479-E0CE-4D96-9E91-F76C127FCCF3}" presName="compNode" presStyleCnt="0"/>
      <dgm:spPr/>
    </dgm:pt>
    <dgm:pt modelId="{02CE17CC-B621-4160-B9D7-2B475CC9DAB1}" type="pres">
      <dgm:prSet presAssocID="{DD016479-E0CE-4D96-9E91-F76C127FCCF3}" presName="bgRect" presStyleLbl="bgShp" presStyleIdx="0" presStyleCnt="2"/>
      <dgm:spPr/>
    </dgm:pt>
    <dgm:pt modelId="{B8788CDD-9A35-4C3A-BF4B-8CA5D786DB7F}" type="pres">
      <dgm:prSet presAssocID="{DD016479-E0CE-4D96-9E91-F76C127FCCF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5D2E9C8-03EE-41DD-AD9C-54685F6666C5}" type="pres">
      <dgm:prSet presAssocID="{DD016479-E0CE-4D96-9E91-F76C127FCCF3}" presName="spaceRect" presStyleCnt="0"/>
      <dgm:spPr/>
    </dgm:pt>
    <dgm:pt modelId="{D510442B-AD8B-431F-8DB1-0C98EE56A2B7}" type="pres">
      <dgm:prSet presAssocID="{DD016479-E0CE-4D96-9E91-F76C127FCCF3}" presName="parTx" presStyleLbl="revTx" presStyleIdx="0" presStyleCnt="3">
        <dgm:presLayoutVars>
          <dgm:chMax val="0"/>
          <dgm:chPref val="0"/>
        </dgm:presLayoutVars>
      </dgm:prSet>
      <dgm:spPr/>
    </dgm:pt>
    <dgm:pt modelId="{0CF22FE6-860D-4811-803C-8E3DADC03F50}" type="pres">
      <dgm:prSet presAssocID="{DD016479-E0CE-4D96-9E91-F76C127FCCF3}" presName="desTx" presStyleLbl="revTx" presStyleIdx="1" presStyleCnt="3">
        <dgm:presLayoutVars/>
      </dgm:prSet>
      <dgm:spPr/>
    </dgm:pt>
    <dgm:pt modelId="{E6B57885-01E0-4680-8FD1-27E192D5374C}" type="pres">
      <dgm:prSet presAssocID="{22B94241-5467-4993-AE33-B4AEE4E02917}" presName="sibTrans" presStyleCnt="0"/>
      <dgm:spPr/>
    </dgm:pt>
    <dgm:pt modelId="{DB3ACDDF-EC78-4F98-A3E3-061BE1B7332E}" type="pres">
      <dgm:prSet presAssocID="{1D9362E3-14AA-4763-A553-266E2925FE0C}" presName="compNode" presStyleCnt="0"/>
      <dgm:spPr/>
    </dgm:pt>
    <dgm:pt modelId="{1611CED1-3CE0-4AFD-9058-644CC7CC180D}" type="pres">
      <dgm:prSet presAssocID="{1D9362E3-14AA-4763-A553-266E2925FE0C}" presName="bgRect" presStyleLbl="bgShp" presStyleIdx="1" presStyleCnt="2"/>
      <dgm:spPr/>
    </dgm:pt>
    <dgm:pt modelId="{347B538C-166B-46F1-B206-0645AAE9F718}" type="pres">
      <dgm:prSet presAssocID="{1D9362E3-14AA-4763-A553-266E2925FE0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21411EB1-3EB0-40D6-9022-2D3FD8ADF494}" type="pres">
      <dgm:prSet presAssocID="{1D9362E3-14AA-4763-A553-266E2925FE0C}" presName="spaceRect" presStyleCnt="0"/>
      <dgm:spPr/>
    </dgm:pt>
    <dgm:pt modelId="{CC8042AF-EF1C-449D-9FBD-00D29A828308}" type="pres">
      <dgm:prSet presAssocID="{1D9362E3-14AA-4763-A553-266E2925FE0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F0ECA0B-76FA-4D46-AD6E-5C81735803D0}" type="presOf" srcId="{1D9362E3-14AA-4763-A553-266E2925FE0C}" destId="{CC8042AF-EF1C-449D-9FBD-00D29A828308}" srcOrd="0" destOrd="0" presId="urn:microsoft.com/office/officeart/2018/2/layout/IconVerticalSolidList"/>
    <dgm:cxn modelId="{013E3412-B289-47A7-B3A0-30DECA02146C}" srcId="{AB22937C-CE06-4C46-B5B4-858EA874910C}" destId="{1D9362E3-14AA-4763-A553-266E2925FE0C}" srcOrd="1" destOrd="0" parTransId="{91C60020-4124-44F6-93AE-B1368B49FCD5}" sibTransId="{B0C79283-AE00-414D-8F21-06CFBB30AF1C}"/>
    <dgm:cxn modelId="{1E862418-363D-4502-A9F6-597AC2099B43}" type="presOf" srcId="{3A7BFBD2-889D-4C9D-9A9B-769D71643472}" destId="{0CF22FE6-860D-4811-803C-8E3DADC03F50}" srcOrd="0" destOrd="1" presId="urn:microsoft.com/office/officeart/2018/2/layout/IconVerticalSolidList"/>
    <dgm:cxn modelId="{65BA653E-4E19-4950-9B8E-E2BE861979D4}" srcId="{DD016479-E0CE-4D96-9E91-F76C127FCCF3}" destId="{4F6C6A4A-9049-47C3-9E5F-4B23F225B556}" srcOrd="0" destOrd="0" parTransId="{CE3A2549-939B-4F3A-A67D-5581921F80CE}" sibTransId="{8CC15C8B-D066-4E86-8389-72D6FE29692D}"/>
    <dgm:cxn modelId="{9818F54A-D261-442B-9F06-C3E2E7CC6BE9}" type="presOf" srcId="{DD016479-E0CE-4D96-9E91-F76C127FCCF3}" destId="{D510442B-AD8B-431F-8DB1-0C98EE56A2B7}" srcOrd="0" destOrd="0" presId="urn:microsoft.com/office/officeart/2018/2/layout/IconVerticalSolidList"/>
    <dgm:cxn modelId="{65E64D74-0C22-40C3-9662-2F748633C306}" type="presOf" srcId="{AB22937C-CE06-4C46-B5B4-858EA874910C}" destId="{35F4CD03-BA26-4FA5-AFF2-BF12671E5A55}" srcOrd="0" destOrd="0" presId="urn:microsoft.com/office/officeart/2018/2/layout/IconVerticalSolidList"/>
    <dgm:cxn modelId="{256E63A2-A4BC-405F-9604-B16376018387}" srcId="{AB22937C-CE06-4C46-B5B4-858EA874910C}" destId="{DD016479-E0CE-4D96-9E91-F76C127FCCF3}" srcOrd="0" destOrd="0" parTransId="{F07F3BE7-5BDD-4ACB-AE89-CB2D098A0A2F}" sibTransId="{22B94241-5467-4993-AE33-B4AEE4E02917}"/>
    <dgm:cxn modelId="{3A3A0FAE-A66E-4AE0-869C-7B24092CF17D}" type="presOf" srcId="{4F6C6A4A-9049-47C3-9E5F-4B23F225B556}" destId="{0CF22FE6-860D-4811-803C-8E3DADC03F50}" srcOrd="0" destOrd="0" presId="urn:microsoft.com/office/officeart/2018/2/layout/IconVerticalSolidList"/>
    <dgm:cxn modelId="{106D73F3-058E-4F3D-B4A3-5880FFBC9971}" srcId="{DD016479-E0CE-4D96-9E91-F76C127FCCF3}" destId="{3A7BFBD2-889D-4C9D-9A9B-769D71643472}" srcOrd="1" destOrd="0" parTransId="{06D2113E-EA9E-4E82-B723-EEC795893B7A}" sibTransId="{695B3C94-C43B-4A31-8EEF-68939B023AE9}"/>
    <dgm:cxn modelId="{AEE08DA7-6206-433C-8A1B-A22D309B87EA}" type="presParOf" srcId="{35F4CD03-BA26-4FA5-AFF2-BF12671E5A55}" destId="{1E6CE0CF-B80B-4C53-982D-C44D6E880E60}" srcOrd="0" destOrd="0" presId="urn:microsoft.com/office/officeart/2018/2/layout/IconVerticalSolidList"/>
    <dgm:cxn modelId="{9BBBE02D-9D49-45B6-8C51-340A30347BFF}" type="presParOf" srcId="{1E6CE0CF-B80B-4C53-982D-C44D6E880E60}" destId="{02CE17CC-B621-4160-B9D7-2B475CC9DAB1}" srcOrd="0" destOrd="0" presId="urn:microsoft.com/office/officeart/2018/2/layout/IconVerticalSolidList"/>
    <dgm:cxn modelId="{2F9B472C-6D54-415D-841F-81133DFDC728}" type="presParOf" srcId="{1E6CE0CF-B80B-4C53-982D-C44D6E880E60}" destId="{B8788CDD-9A35-4C3A-BF4B-8CA5D786DB7F}" srcOrd="1" destOrd="0" presId="urn:microsoft.com/office/officeart/2018/2/layout/IconVerticalSolidList"/>
    <dgm:cxn modelId="{77BABFFD-7943-41EA-B35D-EBCAD204DC30}" type="presParOf" srcId="{1E6CE0CF-B80B-4C53-982D-C44D6E880E60}" destId="{35D2E9C8-03EE-41DD-AD9C-54685F6666C5}" srcOrd="2" destOrd="0" presId="urn:microsoft.com/office/officeart/2018/2/layout/IconVerticalSolidList"/>
    <dgm:cxn modelId="{042D50A3-139A-459C-9734-1889014ADC28}" type="presParOf" srcId="{1E6CE0CF-B80B-4C53-982D-C44D6E880E60}" destId="{D510442B-AD8B-431F-8DB1-0C98EE56A2B7}" srcOrd="3" destOrd="0" presId="urn:microsoft.com/office/officeart/2018/2/layout/IconVerticalSolidList"/>
    <dgm:cxn modelId="{D0D83B01-8666-4AAD-855B-39C93DEF93DC}" type="presParOf" srcId="{1E6CE0CF-B80B-4C53-982D-C44D6E880E60}" destId="{0CF22FE6-860D-4811-803C-8E3DADC03F50}" srcOrd="4" destOrd="0" presId="urn:microsoft.com/office/officeart/2018/2/layout/IconVerticalSolidList"/>
    <dgm:cxn modelId="{004A79FE-0B9C-4A10-964A-012F6E561C00}" type="presParOf" srcId="{35F4CD03-BA26-4FA5-AFF2-BF12671E5A55}" destId="{E6B57885-01E0-4680-8FD1-27E192D5374C}" srcOrd="1" destOrd="0" presId="urn:microsoft.com/office/officeart/2018/2/layout/IconVerticalSolidList"/>
    <dgm:cxn modelId="{5B5093A5-20B1-421C-9274-0BD7EB1CF301}" type="presParOf" srcId="{35F4CD03-BA26-4FA5-AFF2-BF12671E5A55}" destId="{DB3ACDDF-EC78-4F98-A3E3-061BE1B7332E}" srcOrd="2" destOrd="0" presId="urn:microsoft.com/office/officeart/2018/2/layout/IconVerticalSolidList"/>
    <dgm:cxn modelId="{FA37BB48-72D5-415B-BFF2-ACBFC7B991E9}" type="presParOf" srcId="{DB3ACDDF-EC78-4F98-A3E3-061BE1B7332E}" destId="{1611CED1-3CE0-4AFD-9058-644CC7CC180D}" srcOrd="0" destOrd="0" presId="urn:microsoft.com/office/officeart/2018/2/layout/IconVerticalSolidList"/>
    <dgm:cxn modelId="{A5FA7A61-B9F4-48A2-BC72-56ACD46E8446}" type="presParOf" srcId="{DB3ACDDF-EC78-4F98-A3E3-061BE1B7332E}" destId="{347B538C-166B-46F1-B206-0645AAE9F718}" srcOrd="1" destOrd="0" presId="urn:microsoft.com/office/officeart/2018/2/layout/IconVerticalSolidList"/>
    <dgm:cxn modelId="{30603FBD-A929-4668-844F-E1EB000F4B1B}" type="presParOf" srcId="{DB3ACDDF-EC78-4F98-A3E3-061BE1B7332E}" destId="{21411EB1-3EB0-40D6-9022-2D3FD8ADF494}" srcOrd="2" destOrd="0" presId="urn:microsoft.com/office/officeart/2018/2/layout/IconVerticalSolidList"/>
    <dgm:cxn modelId="{BC1A25AA-B187-4445-8529-24539CBFA036}" type="presParOf" srcId="{DB3ACDDF-EC78-4F98-A3E3-061BE1B7332E}" destId="{CC8042AF-EF1C-449D-9FBD-00D29A8283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0FA59-09C7-4615-AF59-17594254CE40}">
      <dsp:nvSpPr>
        <dsp:cNvPr id="0" name=""/>
        <dsp:cNvSpPr/>
      </dsp:nvSpPr>
      <dsp:spPr>
        <a:xfrm>
          <a:off x="564387" y="0"/>
          <a:ext cx="1510523" cy="14315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B5776-57ED-467F-8C9F-85B0FAAE092F}">
      <dsp:nvSpPr>
        <dsp:cNvPr id="0" name=""/>
        <dsp:cNvSpPr/>
      </dsp:nvSpPr>
      <dsp:spPr>
        <a:xfrm>
          <a:off x="564387" y="1608921"/>
          <a:ext cx="4315781" cy="613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kern="1200"/>
            <a:t>Objective:</a:t>
          </a:r>
          <a:r>
            <a:rPr lang="en-US" sz="1900" kern="1200"/>
            <a:t> Transforming raw specs into strategic categories.</a:t>
          </a:r>
        </a:p>
      </dsp:txBody>
      <dsp:txXfrm>
        <a:off x="564387" y="1608921"/>
        <a:ext cx="4315781" cy="613539"/>
      </dsp:txXfrm>
    </dsp:sp>
    <dsp:sp modelId="{A66266AC-43FF-442B-81EA-6224EB644666}">
      <dsp:nvSpPr>
        <dsp:cNvPr id="0" name=""/>
        <dsp:cNvSpPr/>
      </dsp:nvSpPr>
      <dsp:spPr>
        <a:xfrm>
          <a:off x="564387" y="2304940"/>
          <a:ext cx="4315781" cy="2046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9D8265-81BE-430E-B7AB-F800D1F78E64}">
      <dsp:nvSpPr>
        <dsp:cNvPr id="0" name=""/>
        <dsp:cNvSpPr/>
      </dsp:nvSpPr>
      <dsp:spPr>
        <a:xfrm>
          <a:off x="5635430" y="0"/>
          <a:ext cx="1510523" cy="14315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6BD6F-0861-4743-A7A4-45A49C741732}">
      <dsp:nvSpPr>
        <dsp:cNvPr id="0" name=""/>
        <dsp:cNvSpPr/>
      </dsp:nvSpPr>
      <dsp:spPr>
        <a:xfrm>
          <a:off x="5635430" y="1608921"/>
          <a:ext cx="4315781" cy="613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kern="1200"/>
            <a:t>New Features Created:</a:t>
          </a:r>
          <a:endParaRPr lang="en-US" sz="1900" kern="1200"/>
        </a:p>
      </dsp:txBody>
      <dsp:txXfrm>
        <a:off x="5635430" y="1608921"/>
        <a:ext cx="4315781" cy="613539"/>
      </dsp:txXfrm>
    </dsp:sp>
    <dsp:sp modelId="{CF98E133-D4A0-4EBF-8C8E-5F6AB7F12352}">
      <dsp:nvSpPr>
        <dsp:cNvPr id="0" name=""/>
        <dsp:cNvSpPr/>
      </dsp:nvSpPr>
      <dsp:spPr>
        <a:xfrm>
          <a:off x="5635430" y="2304940"/>
          <a:ext cx="4315781" cy="2046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Price Segment:</a:t>
          </a:r>
          <a:r>
            <a:rPr lang="en-US" sz="1500" kern="1200"/>
            <a:t> Classified phones into 'Budget' (&lt;10k), 'Mid-Range' (10k-25k), and 'Flagship' (&gt;25k).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Processor Brand:</a:t>
          </a:r>
          <a:r>
            <a:rPr lang="en-US" sz="1500" kern="1200"/>
            <a:t> Extracted core brand names (Snapdragon, MediaTek, Unisoc).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Mobile Brand:</a:t>
          </a:r>
          <a:r>
            <a:rPr lang="en-US" sz="1500" kern="1200"/>
            <a:t> Isolated brand names from model text for brand-value analysis.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Price per GB RAM:</a:t>
          </a:r>
          <a:r>
            <a:rPr lang="en-US" sz="1500" kern="1200"/>
            <a:t> Calculated efficiency metric to find "Value for Money" devices.</a:t>
          </a:r>
        </a:p>
      </dsp:txBody>
      <dsp:txXfrm>
        <a:off x="5635430" y="2304940"/>
        <a:ext cx="4315781" cy="20463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CE17CC-B621-4160-B9D7-2B475CC9DAB1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788CDD-9A35-4C3A-BF4B-8CA5D786DB7F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10442B-AD8B-431F-8DB1-0C98EE56A2B7}">
      <dsp:nvSpPr>
        <dsp:cNvPr id="0" name=""/>
        <dsp:cNvSpPr/>
      </dsp:nvSpPr>
      <dsp:spPr>
        <a:xfrm>
          <a:off x="1507738" y="707092"/>
          <a:ext cx="4732020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Analysis of Price per GB RAM:</a:t>
          </a:r>
          <a:endParaRPr lang="en-US" sz="2400" kern="1200"/>
        </a:p>
      </dsp:txBody>
      <dsp:txXfrm>
        <a:off x="1507738" y="707092"/>
        <a:ext cx="4732020" cy="1305401"/>
      </dsp:txXfrm>
    </dsp:sp>
    <dsp:sp modelId="{0CF22FE6-860D-4811-803C-8E3DADC03F50}">
      <dsp:nvSpPr>
        <dsp:cNvPr id="0" name=""/>
        <dsp:cNvSpPr/>
      </dsp:nvSpPr>
      <dsp:spPr>
        <a:xfrm>
          <a:off x="6239758" y="707092"/>
          <a:ext cx="427584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Budget Segment:</a:t>
          </a:r>
          <a:r>
            <a:rPr lang="en-US" sz="1200" kern="1200"/>
            <a:t> Offers the highest "Price per GB" efficiency.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Flagship Segment:</a:t>
          </a:r>
          <a:r>
            <a:rPr lang="en-US" sz="1200" kern="1200"/>
            <a:t> Consumers pay a high premium for brand value and processor speed, even if RAM stays at 8GB.</a:t>
          </a:r>
        </a:p>
      </dsp:txBody>
      <dsp:txXfrm>
        <a:off x="6239758" y="707092"/>
        <a:ext cx="4275841" cy="1305401"/>
      </dsp:txXfrm>
    </dsp:sp>
    <dsp:sp modelId="{1611CED1-3CE0-4AFD-9058-644CC7CC180D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7B538C-166B-46F1-B206-0645AAE9F718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8042AF-EF1C-449D-9FBD-00D29A828308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Insight:</a:t>
          </a:r>
          <a:r>
            <a:rPr lang="en-US" sz="2400" kern="1200"/>
            <a:t> The "Value for Money" sweet spot lies in the </a:t>
          </a:r>
          <a:r>
            <a:rPr lang="en-US" sz="2400" b="1" kern="1200"/>
            <a:t>Mid-Range segment</a:t>
          </a:r>
          <a:r>
            <a:rPr lang="en-US" sz="2400" kern="1200"/>
            <a:t> with MediaTek Dimensity or Snapdragon 6-series chips.</a:t>
          </a:r>
        </a:p>
      </dsp:txBody>
      <dsp:txXfrm>
        <a:off x="1507738" y="2338844"/>
        <a:ext cx="9007861" cy="1305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0D1D739-EDC4-4BE6-A073-9B157E1F9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CDD35A4-E546-4AF3-A8B9-AC24C5C9F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3852070 w 12192000"/>
              <a:gd name="connsiteY1" fmla="*/ 0 h 6858000"/>
              <a:gd name="connsiteX2" fmla="*/ 3878367 w 12192000"/>
              <a:gd name="connsiteY2" fmla="*/ 23504 h 6858000"/>
              <a:gd name="connsiteX3" fmla="*/ 3885324 w 12192000"/>
              <a:gd name="connsiteY3" fmla="*/ 84795 h 6858000"/>
              <a:gd name="connsiteX4" fmla="*/ 3820400 w 12192000"/>
              <a:gd name="connsiteY4" fmla="*/ 131127 h 6858000"/>
              <a:gd name="connsiteX5" fmla="*/ 3631811 w 12192000"/>
              <a:gd name="connsiteY5" fmla="*/ 219929 h 6858000"/>
              <a:gd name="connsiteX6" fmla="*/ 4327428 w 12192000"/>
              <a:gd name="connsiteY6" fmla="*/ 351201 h 6858000"/>
              <a:gd name="connsiteX7" fmla="*/ 4080099 w 12192000"/>
              <a:gd name="connsiteY7" fmla="*/ 432279 h 6858000"/>
              <a:gd name="connsiteX8" fmla="*/ 3823492 w 12192000"/>
              <a:gd name="connsiteY8" fmla="*/ 490194 h 6858000"/>
              <a:gd name="connsiteX9" fmla="*/ 3545246 w 12192000"/>
              <a:gd name="connsiteY9" fmla="*/ 532664 h 6858000"/>
              <a:gd name="connsiteX10" fmla="*/ 3291732 w 12192000"/>
              <a:gd name="connsiteY10" fmla="*/ 617605 h 6858000"/>
              <a:gd name="connsiteX11" fmla="*/ 3953340 w 12192000"/>
              <a:gd name="connsiteY11" fmla="*/ 652353 h 6858000"/>
              <a:gd name="connsiteX12" fmla="*/ 3610170 w 12192000"/>
              <a:gd name="connsiteY12" fmla="*/ 729572 h 6858000"/>
              <a:gd name="connsiteX13" fmla="*/ 3328832 w 12192000"/>
              <a:gd name="connsiteY13" fmla="*/ 829957 h 6858000"/>
              <a:gd name="connsiteX14" fmla="*/ 3130966 w 12192000"/>
              <a:gd name="connsiteY14" fmla="*/ 876288 h 6858000"/>
              <a:gd name="connsiteX15" fmla="*/ 2920736 w 12192000"/>
              <a:gd name="connsiteY15" fmla="*/ 887872 h 6858000"/>
              <a:gd name="connsiteX16" fmla="*/ 2871269 w 12192000"/>
              <a:gd name="connsiteY16" fmla="*/ 961228 h 6858000"/>
              <a:gd name="connsiteX17" fmla="*/ 2936195 w 12192000"/>
              <a:gd name="connsiteY17" fmla="*/ 1038448 h 6858000"/>
              <a:gd name="connsiteX18" fmla="*/ 3035126 w 12192000"/>
              <a:gd name="connsiteY18" fmla="*/ 1046168 h 6858000"/>
              <a:gd name="connsiteX19" fmla="*/ 3625627 w 12192000"/>
              <a:gd name="connsiteY19" fmla="*/ 1065474 h 6858000"/>
              <a:gd name="connsiteX20" fmla="*/ 1733551 w 12192000"/>
              <a:gd name="connsiteY20" fmla="*/ 1235355 h 6858000"/>
              <a:gd name="connsiteX21" fmla="*/ 1990156 w 12192000"/>
              <a:gd name="connsiteY21" fmla="*/ 1339602 h 6858000"/>
              <a:gd name="connsiteX22" fmla="*/ 2076722 w 12192000"/>
              <a:gd name="connsiteY22" fmla="*/ 1625311 h 6858000"/>
              <a:gd name="connsiteX23" fmla="*/ 2392067 w 12192000"/>
              <a:gd name="connsiteY23" fmla="*/ 1787470 h 6858000"/>
              <a:gd name="connsiteX24" fmla="*/ 2596115 w 12192000"/>
              <a:gd name="connsiteY24" fmla="*/ 1845385 h 6858000"/>
              <a:gd name="connsiteX25" fmla="*/ 3062950 w 12192000"/>
              <a:gd name="connsiteY25" fmla="*/ 1930326 h 6858000"/>
              <a:gd name="connsiteX26" fmla="*/ 3130966 w 12192000"/>
              <a:gd name="connsiteY26" fmla="*/ 2069319 h 6858000"/>
              <a:gd name="connsiteX27" fmla="*/ 3189708 w 12192000"/>
              <a:gd name="connsiteY27" fmla="*/ 2223754 h 6858000"/>
              <a:gd name="connsiteX28" fmla="*/ 3313373 w 12192000"/>
              <a:gd name="connsiteY28" fmla="*/ 2324141 h 6858000"/>
              <a:gd name="connsiteX29" fmla="*/ 2351877 w 12192000"/>
              <a:gd name="connsiteY29" fmla="*/ 2308697 h 6858000"/>
              <a:gd name="connsiteX30" fmla="*/ 3437038 w 12192000"/>
              <a:gd name="connsiteY30" fmla="*/ 2633017 h 6858000"/>
              <a:gd name="connsiteX31" fmla="*/ 3341198 w 12192000"/>
              <a:gd name="connsiteY31" fmla="*/ 2760427 h 6858000"/>
              <a:gd name="connsiteX32" fmla="*/ 3934791 w 12192000"/>
              <a:gd name="connsiteY32" fmla="*/ 2934169 h 6858000"/>
              <a:gd name="connsiteX33" fmla="*/ 3616352 w 12192000"/>
              <a:gd name="connsiteY33" fmla="*/ 2953473 h 6858000"/>
              <a:gd name="connsiteX34" fmla="*/ 5468240 w 12192000"/>
              <a:gd name="connsiteY34" fmla="*/ 3679329 h 6858000"/>
              <a:gd name="connsiteX35" fmla="*/ 8111582 w 12192000"/>
              <a:gd name="connsiteY35" fmla="*/ 4204418 h 6858000"/>
              <a:gd name="connsiteX36" fmla="*/ 9144186 w 12192000"/>
              <a:gd name="connsiteY36" fmla="*/ 4304802 h 6858000"/>
              <a:gd name="connsiteX37" fmla="*/ 10319004 w 12192000"/>
              <a:gd name="connsiteY37" fmla="*/ 4273915 h 6858000"/>
              <a:gd name="connsiteX38" fmla="*/ 12053408 w 12192000"/>
              <a:gd name="connsiteY38" fmla="*/ 3907125 h 6858000"/>
              <a:gd name="connsiteX39" fmla="*/ 12192000 w 12192000"/>
              <a:gd name="connsiteY39" fmla="*/ 3841157 h 6858000"/>
              <a:gd name="connsiteX40" fmla="*/ 12192000 w 12192000"/>
              <a:gd name="connsiteY40" fmla="*/ 6858000 h 6858000"/>
              <a:gd name="connsiteX41" fmla="*/ 0 w 12192000"/>
              <a:gd name="connsiteY4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3852070" y="0"/>
                </a:lnTo>
                <a:lnTo>
                  <a:pt x="3878367" y="23504"/>
                </a:lnTo>
                <a:cubicBezTo>
                  <a:pt x="3887642" y="39430"/>
                  <a:pt x="3891507" y="59700"/>
                  <a:pt x="3885324" y="84795"/>
                </a:cubicBezTo>
                <a:cubicBezTo>
                  <a:pt x="3876049" y="123406"/>
                  <a:pt x="3845133" y="123406"/>
                  <a:pt x="3820400" y="131127"/>
                </a:cubicBezTo>
                <a:cubicBezTo>
                  <a:pt x="3764751" y="154292"/>
                  <a:pt x="3696735" y="138849"/>
                  <a:pt x="3631811" y="219929"/>
                </a:cubicBezTo>
                <a:cubicBezTo>
                  <a:pt x="3879141" y="262399"/>
                  <a:pt x="4117198" y="181318"/>
                  <a:pt x="4327428" y="351201"/>
                </a:cubicBezTo>
                <a:cubicBezTo>
                  <a:pt x="4250138" y="436142"/>
                  <a:pt x="4163572" y="416836"/>
                  <a:pt x="4080099" y="432279"/>
                </a:cubicBezTo>
                <a:cubicBezTo>
                  <a:pt x="3993533" y="447725"/>
                  <a:pt x="3910058" y="474751"/>
                  <a:pt x="3823492" y="490194"/>
                </a:cubicBezTo>
                <a:cubicBezTo>
                  <a:pt x="3730743" y="509498"/>
                  <a:pt x="3637993" y="513360"/>
                  <a:pt x="3545246" y="532664"/>
                </a:cubicBezTo>
                <a:cubicBezTo>
                  <a:pt x="3467954" y="548109"/>
                  <a:pt x="3384480" y="521081"/>
                  <a:pt x="3291732" y="617605"/>
                </a:cubicBezTo>
                <a:cubicBezTo>
                  <a:pt x="3520513" y="687103"/>
                  <a:pt x="3727651" y="582857"/>
                  <a:pt x="3953340" y="652353"/>
                </a:cubicBezTo>
                <a:cubicBezTo>
                  <a:pt x="3820400" y="714129"/>
                  <a:pt x="3712194" y="694824"/>
                  <a:pt x="3610170" y="729572"/>
                </a:cubicBezTo>
                <a:cubicBezTo>
                  <a:pt x="3517420" y="764322"/>
                  <a:pt x="3406122" y="725712"/>
                  <a:pt x="3328832" y="829957"/>
                </a:cubicBezTo>
                <a:cubicBezTo>
                  <a:pt x="3270090" y="911035"/>
                  <a:pt x="3208258" y="922618"/>
                  <a:pt x="3130966" y="876288"/>
                </a:cubicBezTo>
                <a:cubicBezTo>
                  <a:pt x="3062950" y="833818"/>
                  <a:pt x="2988752" y="845400"/>
                  <a:pt x="2920736" y="887872"/>
                </a:cubicBezTo>
                <a:cubicBezTo>
                  <a:pt x="2896004" y="903315"/>
                  <a:pt x="2871269" y="922618"/>
                  <a:pt x="2871269" y="961228"/>
                </a:cubicBezTo>
                <a:cubicBezTo>
                  <a:pt x="2871269" y="1015283"/>
                  <a:pt x="2902186" y="1030726"/>
                  <a:pt x="2936195" y="1038448"/>
                </a:cubicBezTo>
                <a:cubicBezTo>
                  <a:pt x="2967111" y="1046168"/>
                  <a:pt x="3004210" y="1053891"/>
                  <a:pt x="3035126" y="1046168"/>
                </a:cubicBezTo>
                <a:cubicBezTo>
                  <a:pt x="3232990" y="1003700"/>
                  <a:pt x="3427764" y="1073194"/>
                  <a:pt x="3625627" y="1065474"/>
                </a:cubicBezTo>
                <a:cubicBezTo>
                  <a:pt x="3004210" y="1231494"/>
                  <a:pt x="2376610" y="1177441"/>
                  <a:pt x="1733551" y="1235355"/>
                </a:cubicBezTo>
                <a:cubicBezTo>
                  <a:pt x="1817025" y="1351183"/>
                  <a:pt x="1925232" y="1254661"/>
                  <a:pt x="1990156" y="1339602"/>
                </a:cubicBezTo>
                <a:cubicBezTo>
                  <a:pt x="1928323" y="1517205"/>
                  <a:pt x="1953057" y="1613728"/>
                  <a:pt x="2076722" y="1625311"/>
                </a:cubicBezTo>
                <a:cubicBezTo>
                  <a:pt x="2197295" y="1636894"/>
                  <a:pt x="2327143" y="1575118"/>
                  <a:pt x="2392067" y="1787470"/>
                </a:cubicBezTo>
                <a:cubicBezTo>
                  <a:pt x="2410617" y="1853106"/>
                  <a:pt x="2525008" y="1833802"/>
                  <a:pt x="2596115" y="1845385"/>
                </a:cubicBezTo>
                <a:cubicBezTo>
                  <a:pt x="2750696" y="1872411"/>
                  <a:pt x="2914554" y="1845385"/>
                  <a:pt x="3062950" y="1930326"/>
                </a:cubicBezTo>
                <a:cubicBezTo>
                  <a:pt x="3121692" y="1961213"/>
                  <a:pt x="3161883" y="1984378"/>
                  <a:pt x="3130966" y="2069319"/>
                </a:cubicBezTo>
                <a:cubicBezTo>
                  <a:pt x="3100050" y="2158121"/>
                  <a:pt x="3140242" y="2189008"/>
                  <a:pt x="3189708" y="2223754"/>
                </a:cubicBezTo>
                <a:cubicBezTo>
                  <a:pt x="3226808" y="2250784"/>
                  <a:pt x="3282457" y="2243060"/>
                  <a:pt x="3313373" y="2324141"/>
                </a:cubicBezTo>
                <a:cubicBezTo>
                  <a:pt x="2988752" y="2312558"/>
                  <a:pt x="2673405" y="2246923"/>
                  <a:pt x="2351877" y="2308697"/>
                </a:cubicBezTo>
                <a:cubicBezTo>
                  <a:pt x="2704323" y="2463134"/>
                  <a:pt x="3090776" y="2455412"/>
                  <a:pt x="3437038" y="2633017"/>
                </a:cubicBezTo>
                <a:cubicBezTo>
                  <a:pt x="3424671" y="2694791"/>
                  <a:pt x="3344289" y="2667764"/>
                  <a:pt x="3341198" y="2760427"/>
                </a:cubicBezTo>
                <a:cubicBezTo>
                  <a:pt x="3523603" y="2856951"/>
                  <a:pt x="3743110" y="2791314"/>
                  <a:pt x="3934791" y="2934169"/>
                </a:cubicBezTo>
                <a:cubicBezTo>
                  <a:pt x="3823492" y="2999805"/>
                  <a:pt x="3721469" y="2891699"/>
                  <a:pt x="3616352" y="2953473"/>
                </a:cubicBezTo>
                <a:cubicBezTo>
                  <a:pt x="3650361" y="3046136"/>
                  <a:pt x="5189993" y="3617555"/>
                  <a:pt x="5468240" y="3679329"/>
                </a:cubicBezTo>
                <a:cubicBezTo>
                  <a:pt x="6034007" y="3806740"/>
                  <a:pt x="7663296" y="4131059"/>
                  <a:pt x="8111582" y="4204418"/>
                </a:cubicBezTo>
                <a:cubicBezTo>
                  <a:pt x="8457844" y="4258470"/>
                  <a:pt x="8801016" y="4300942"/>
                  <a:pt x="9144186" y="4304802"/>
                </a:cubicBezTo>
                <a:cubicBezTo>
                  <a:pt x="9536822" y="4308663"/>
                  <a:pt x="9926368" y="4289359"/>
                  <a:pt x="10319004" y="4273915"/>
                </a:cubicBezTo>
                <a:cubicBezTo>
                  <a:pt x="10906415" y="4250750"/>
                  <a:pt x="11484549" y="4158087"/>
                  <a:pt x="12053408" y="3907125"/>
                </a:cubicBezTo>
                <a:lnTo>
                  <a:pt x="12192000" y="3841157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3563422"/>
            <a:ext cx="7268147" cy="1754376"/>
          </a:xfrm>
        </p:spPr>
        <p:txBody>
          <a:bodyPr>
            <a:normAutofit/>
          </a:bodyPr>
          <a:lstStyle/>
          <a:p>
            <a:pPr algn="l"/>
            <a:r>
              <a:rPr lang="en-US" sz="4400">
                <a:ea typeface="+mj-lt"/>
                <a:cs typeface="+mj-lt"/>
              </a:rPr>
              <a:t>Comprehensive Data Analysis of Mobile Phones Dataset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199" y="5384878"/>
            <a:ext cx="7315200" cy="77549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>
                <a:ea typeface="+mn-lt"/>
                <a:cs typeface="+mn-lt"/>
              </a:rPr>
              <a:t>Submitted to: NHIS | Prepared by: Sanskar Pandey</a:t>
            </a:r>
            <a:endParaRPr lang="en-US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75D5F495-83E9-3F78-0730-9E3E94D0B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475" y="651289"/>
            <a:ext cx="6153150" cy="256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469AE78-B14F-D39A-814F-88A9658D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Project Overview &amp; Objectives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1A22B-B099-DF9F-4A57-504F6BCFE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Dataset: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Analysis of 500+ smartphone listings with 11 features.</a:t>
            </a: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Objective: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To understand the correlation between hardware specifications and market pricing.</a:t>
            </a:r>
          </a:p>
          <a:p>
            <a:pPr lvl="1" indent="-457200"/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To identify industry standards for essential features like Battery, RAM, and Processor.</a:t>
            </a:r>
            <a:endParaRPr lang="en-US" sz="1800">
              <a:solidFill>
                <a:schemeClr val="tx2"/>
              </a:solidFill>
            </a:endParaRPr>
          </a:p>
          <a:p>
            <a:pPr lvl="1" indent="-457200"/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To clean and structure raw data for actionable business insights.</a:t>
            </a: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Tools: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Python (Pandas, Seaborn, Matplotlib, Scipy).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346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8E4049-9813-E942-1C36-CE6378AD7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Data Cleaning &amp; Preprocessing</a:t>
            </a:r>
            <a:endParaRPr lang="en-US" sz="4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D2BA1606-C381-AAA7-D49C-8240FF562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3525603"/>
            <a:ext cx="5150277" cy="171246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A2A7D-0165-3EF5-77B5-2A4676439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b="1">
                <a:ea typeface="+mn-lt"/>
                <a:cs typeface="+mn-lt"/>
              </a:rPr>
              <a:t>Steps Taken:</a:t>
            </a:r>
            <a:endParaRPr lang="en-US" sz="1600">
              <a:ea typeface="+mn-lt"/>
              <a:cs typeface="+mn-lt"/>
            </a:endParaRPr>
          </a:p>
          <a:p>
            <a:pPr lvl="1" indent="-457200"/>
            <a:r>
              <a:rPr lang="en-US" sz="1600">
                <a:ea typeface="+mn-lt"/>
                <a:cs typeface="+mn-lt"/>
              </a:rPr>
              <a:t>Removed redundant columns (Unnamed indices) and handled duplicate entries.</a:t>
            </a:r>
            <a:endParaRPr lang="en-US" sz="1600"/>
          </a:p>
          <a:p>
            <a:pPr lvl="1" indent="-457200"/>
            <a:r>
              <a:rPr lang="en-US" sz="1600" b="1">
                <a:ea typeface="+mn-lt"/>
                <a:cs typeface="+mn-lt"/>
              </a:rPr>
              <a:t>Data Type Correction:</a:t>
            </a:r>
            <a:r>
              <a:rPr lang="en-US" sz="1600">
                <a:ea typeface="+mn-lt"/>
                <a:cs typeface="+mn-lt"/>
              </a:rPr>
              <a:t> Converted 'Price' from string to integer for numerical analysis.</a:t>
            </a:r>
          </a:p>
          <a:p>
            <a:pPr lvl="1" indent="-457200"/>
            <a:r>
              <a:rPr lang="en-US" sz="1600" b="1">
                <a:ea typeface="+mn-lt"/>
                <a:cs typeface="+mn-lt"/>
              </a:rPr>
              <a:t>Outlier Management:</a:t>
            </a:r>
            <a:r>
              <a:rPr lang="en-US" sz="1600">
                <a:ea typeface="+mn-lt"/>
                <a:cs typeface="+mn-lt"/>
              </a:rPr>
              <a:t> Identified and removed unrealistic values in 'Mobile Height' (Filtered range: 10cm - 20cm).</a:t>
            </a:r>
            <a:endParaRPr lang="en-US" sz="1600"/>
          </a:p>
          <a:p>
            <a:r>
              <a:rPr lang="en-US" sz="1600" b="1">
                <a:ea typeface="+mn-lt"/>
                <a:cs typeface="+mn-lt"/>
              </a:rPr>
              <a:t>Impact:</a:t>
            </a:r>
            <a:r>
              <a:rPr lang="en-US" sz="1600">
                <a:ea typeface="+mn-lt"/>
                <a:cs typeface="+mn-lt"/>
              </a:rPr>
              <a:t> Ensures that our average price and dimension calculations are not skewed(except the Flagship prices) by erroneous data.</a:t>
            </a:r>
          </a:p>
          <a:p>
            <a:endParaRPr lang="en-US" sz="16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5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4157A-24FC-E6EE-BBB3-01CA5AAC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Feature Engineering</a:t>
            </a:r>
            <a:endParaRPr lang="en-US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928E20B5-10CA-5C3E-7E67-61204A786E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5947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BA4A08-EE63-564E-3659-5A4014F9E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US" sz="3800">
                <a:ea typeface="+mj-lt"/>
                <a:cs typeface="+mj-lt"/>
              </a:rPr>
              <a:t>Univariate Analysis: Hardware Distribution</a:t>
            </a:r>
            <a:endParaRPr lang="en-US" sz="3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D01232-CBFB-E199-9471-ED40C90AE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8" y="640080"/>
            <a:ext cx="5410504" cy="5577840"/>
          </a:xfrm>
          <a:prstGeom prst="rect">
            <a:avLst/>
          </a:prstGeom>
        </p:spPr>
      </p:pic>
      <p:sp>
        <p:nvSpPr>
          <p:cNvPr id="26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93586-D90F-7521-8A6B-FF5E14286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Analysis:</a:t>
            </a:r>
            <a:r>
              <a:rPr lang="en-US" sz="2000">
                <a:ea typeface="+mn-lt"/>
                <a:cs typeface="+mn-lt"/>
              </a:rPr>
              <a:t> * </a:t>
            </a:r>
            <a:r>
              <a:rPr lang="en-US" sz="2000" b="1">
                <a:ea typeface="+mn-lt"/>
                <a:cs typeface="+mn-lt"/>
              </a:rPr>
              <a:t>RAM &amp; Memory:</a:t>
            </a:r>
            <a:r>
              <a:rPr lang="en-US" sz="2000">
                <a:ea typeface="+mn-lt"/>
                <a:cs typeface="+mn-lt"/>
              </a:rPr>
              <a:t> The market is dominated by 4GB/8GB RAM and 64GB/128GB storage configurations.</a:t>
            </a:r>
          </a:p>
          <a:p>
            <a:pPr lvl="1" indent="-457200"/>
            <a:r>
              <a:rPr lang="en-US" sz="2000" b="1">
                <a:ea typeface="+mn-lt"/>
                <a:cs typeface="+mn-lt"/>
              </a:rPr>
              <a:t>Battery:</a:t>
            </a:r>
            <a:r>
              <a:rPr lang="en-US" sz="2000">
                <a:ea typeface="+mn-lt"/>
                <a:cs typeface="+mn-lt"/>
              </a:rPr>
              <a:t> 5000mAh has emerged as the "Universal Industry Standard" (shown in 40%+ of devices).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Observation:</a:t>
            </a:r>
            <a:r>
              <a:rPr lang="en-US" sz="2000">
                <a:ea typeface="+mn-lt"/>
                <a:cs typeface="+mn-lt"/>
              </a:rPr>
              <a:t> Most manufacturers are converging on a standard battery size regardless of price.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06763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7E4F7-9D72-A562-7602-CB8D79E01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Univariate Analysis: Brand &amp; Processor Trends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AAB31-3BB3-6BA8-5E68-079A3C033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Key Findings:</a:t>
            </a:r>
            <a:endParaRPr lang="en-US" sz="2000"/>
          </a:p>
          <a:p>
            <a:pPr lvl="1" indent="-457200"/>
            <a:r>
              <a:rPr lang="en-US" sz="2000" b="1">
                <a:ea typeface="+mn-lt"/>
                <a:cs typeface="+mn-lt"/>
              </a:rPr>
              <a:t>Market Concentration:</a:t>
            </a:r>
            <a:r>
              <a:rPr lang="en-US" sz="2000">
                <a:ea typeface="+mn-lt"/>
                <a:cs typeface="+mn-lt"/>
              </a:rPr>
              <a:t> A few processors (like MediaTek Helio and Snapdragon series) dominate the majority of the listings.</a:t>
            </a:r>
            <a:endParaRPr lang="en-US" sz="2000"/>
          </a:p>
          <a:p>
            <a:pPr lvl="1" indent="-457200"/>
            <a:r>
              <a:rPr lang="en-US" sz="2000" b="1">
                <a:ea typeface="+mn-lt"/>
                <a:cs typeface="+mn-lt"/>
              </a:rPr>
              <a:t>Product Variety:</a:t>
            </a:r>
            <a:r>
              <a:rPr lang="en-US" sz="2000">
                <a:ea typeface="+mn-lt"/>
                <a:cs typeface="+mn-lt"/>
              </a:rPr>
              <a:t> High variety in models but limited variety in core chipsets used.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Observation:</a:t>
            </a:r>
            <a:r>
              <a:rPr lang="en-US" sz="2000">
                <a:ea typeface="+mn-lt"/>
                <a:cs typeface="+mn-lt"/>
              </a:rPr>
              <a:t> The choice of processor is a key differentiator for brands in the Mid-Range segment.</a:t>
            </a:r>
            <a:endParaRPr lang="en-US" sz="2000"/>
          </a:p>
          <a:p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BD2A11-E5E4-53B8-FE1C-DADF0BD6F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777662"/>
            <a:ext cx="5458968" cy="330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67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35971-991E-E5FE-ABD7-522FB404E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Bivariate Analysis: Feature Combinations</a:t>
            </a:r>
            <a:endParaRPr lang="en-US" sz="3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D376A-8A12-D677-24D7-F43A922B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b="1">
                <a:ea typeface="+mn-lt"/>
                <a:cs typeface="+mn-lt"/>
              </a:rPr>
              <a:t>Analysis:</a:t>
            </a:r>
            <a:endParaRPr lang="en-US" sz="1700"/>
          </a:p>
          <a:p>
            <a:pPr lvl="1" indent="-457200"/>
            <a:r>
              <a:rPr lang="en-US" sz="1700" b="1">
                <a:ea typeface="+mn-lt"/>
                <a:cs typeface="+mn-lt"/>
              </a:rPr>
              <a:t>RAM vs. Memory:</a:t>
            </a:r>
            <a:r>
              <a:rPr lang="en-US" sz="1700">
                <a:ea typeface="+mn-lt"/>
                <a:cs typeface="+mn-lt"/>
              </a:rPr>
              <a:t> Strong clustering around (4GB RAM, 64GB ROM) and (8GB RAM, 128GB ROM).</a:t>
            </a:r>
            <a:endParaRPr lang="en-US" sz="1700"/>
          </a:p>
          <a:p>
            <a:pPr lvl="1" indent="-457200"/>
            <a:r>
              <a:rPr lang="en-US" sz="1700" b="1">
                <a:ea typeface="+mn-lt"/>
                <a:cs typeface="+mn-lt"/>
              </a:rPr>
              <a:t>Camera Synergy:</a:t>
            </a:r>
            <a:r>
              <a:rPr lang="en-US" sz="1700">
                <a:ea typeface="+mn-lt"/>
                <a:cs typeface="+mn-lt"/>
              </a:rPr>
              <a:t> A strong positive correlation exists between Front and Rear camera megapixel counts.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Insight:</a:t>
            </a:r>
            <a:r>
              <a:rPr lang="en-US" sz="1700">
                <a:ea typeface="+mn-lt"/>
                <a:cs typeface="+mn-lt"/>
              </a:rPr>
              <a:t> Brands maintain a "Balanced Spec Sheet" to appeal to standard consumer expectations.</a:t>
            </a:r>
            <a:endParaRPr lang="en-US" sz="1700"/>
          </a:p>
          <a:p>
            <a:endParaRPr lang="en-US" sz="1700"/>
          </a:p>
        </p:txBody>
      </p:sp>
      <p:pic>
        <p:nvPicPr>
          <p:cNvPr id="4" name="Picture 3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D4483962-8B33-9098-12C2-2C2FFC1DD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47736"/>
            <a:ext cx="6903720" cy="376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73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A737CE-1162-D10D-AEE9-33567A04F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Bivariate Analysis: The Price Drivers</a:t>
            </a:r>
            <a:endParaRPr lang="en-US" sz="4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0D77F-F98E-CF13-D39E-DC45631EA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Finding 1:</a:t>
            </a:r>
            <a:r>
              <a:rPr lang="en-US" sz="2000">
                <a:ea typeface="+mn-lt"/>
                <a:cs typeface="+mn-lt"/>
              </a:rPr>
              <a:t> RAM is the most aggressive driver of price. Moving from 4GB to 8GB RAM typically results in a significant price tier jump.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Finding 2:</a:t>
            </a:r>
            <a:r>
              <a:rPr lang="en-US" sz="2000">
                <a:ea typeface="+mn-lt"/>
                <a:cs typeface="+mn-lt"/>
              </a:rPr>
              <a:t> Interestingly, Battery capacity has a weak relationship with Price. A 5000mAh battery is found in both ₹8,000 and ₹50,000 phones.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Conclusion:</a:t>
            </a:r>
            <a:r>
              <a:rPr lang="en-US" sz="2000">
                <a:ea typeface="+mn-lt"/>
                <a:cs typeface="+mn-lt"/>
              </a:rPr>
              <a:t> Battery is a "utility" feature, while RAM is a "premium" feature.</a:t>
            </a:r>
            <a:endParaRPr lang="en-US" sz="2000"/>
          </a:p>
        </p:txBody>
      </p:sp>
      <p:pic>
        <p:nvPicPr>
          <p:cNvPr id="4" name="Picture 3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0B04D86C-0543-9D71-CF2F-F258159D8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963678"/>
            <a:ext cx="5150277" cy="275539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73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E1AAB-BCA6-F8F2-9130-FEAD4AA4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200">
                <a:ea typeface="+mj-lt"/>
                <a:cs typeface="+mj-lt"/>
              </a:rPr>
              <a:t>Multivariate Analysis: Deep Dive</a:t>
            </a:r>
            <a:endParaRPr lang="en-US" sz="42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13576-0977-4980-E234-63A77AB98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>
                <a:ea typeface="+mn-lt"/>
                <a:cs typeface="+mn-lt"/>
              </a:rPr>
              <a:t>Relationship Mapping:</a:t>
            </a:r>
            <a:r>
              <a:rPr lang="en-US" sz="2200">
                <a:ea typeface="+mn-lt"/>
                <a:cs typeface="+mn-lt"/>
              </a:rPr>
              <a:t> By analyzing RAM and Price with Processor types, we see that "Premium Brand" processors (like Snapdragon 695) command higher prices even with identical RAM.</a:t>
            </a:r>
            <a:endParaRPr lang="en-US" sz="2200"/>
          </a:p>
          <a:p>
            <a:r>
              <a:rPr lang="en-US" sz="2200" b="1">
                <a:ea typeface="+mn-lt"/>
                <a:cs typeface="+mn-lt"/>
              </a:rPr>
              <a:t>Correlation Heatmap:</a:t>
            </a:r>
            <a:r>
              <a:rPr lang="en-US" sz="2200">
                <a:ea typeface="+mn-lt"/>
                <a:cs typeface="+mn-lt"/>
              </a:rPr>
              <a:t> Confirms that RAM and Memory have the highest numerical impact on the final retail price.</a:t>
            </a:r>
            <a:endParaRPr lang="en-US" sz="2200"/>
          </a:p>
          <a:p>
            <a:endParaRPr lang="en-US" sz="220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D7B8E553-D580-1391-25EC-0B50BCE55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027054"/>
            <a:ext cx="5458968" cy="480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88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A64DF-97EB-C763-419F-FDF2F02A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Segment Analysis (Engineered Insight)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20C1EC6-0826-337F-BF48-94C0F05B54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1059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A761-F0EA-8652-13FB-A801DE6B4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Key Takeaways for NHIS Procurement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A42C0-949E-456F-DF09-711D25CBC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AutoNum type="arabicPeriod"/>
            </a:pPr>
            <a:r>
              <a:rPr lang="en-US" sz="20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Optimization:</a:t>
            </a:r>
            <a:r>
              <a:rPr lang="en-US" sz="20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 Avoid "Flagship" outliers unless high-end processing is mandatory.</a:t>
            </a:r>
            <a:endParaRPr lang="en-US" sz="2000">
              <a:solidFill>
                <a:schemeClr val="tx1">
                  <a:alpha val="55000"/>
                </a:schemeClr>
              </a:solidFill>
            </a:endParaRPr>
          </a:p>
          <a:p>
            <a:pPr>
              <a:buAutoNum type="arabicPeriod"/>
            </a:pPr>
            <a:r>
              <a:rPr lang="en-US" sz="20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Spec Standard:</a:t>
            </a:r>
            <a:r>
              <a:rPr lang="en-US" sz="20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 6GB RAM and 128GB Storage with a 5000mAh battery provide the best long-term utility.</a:t>
            </a:r>
            <a:endParaRPr lang="en-US" sz="2000">
              <a:solidFill>
                <a:schemeClr val="tx1">
                  <a:alpha val="55000"/>
                </a:schemeClr>
              </a:solidFill>
            </a:endParaRPr>
          </a:p>
          <a:p>
            <a:pPr>
              <a:buAutoNum type="arabicPeriod"/>
            </a:pPr>
            <a:r>
              <a:rPr lang="en-US" sz="20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Brand Choice:</a:t>
            </a:r>
            <a:r>
              <a:rPr lang="en-US" sz="20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 MediaTek-powered devices offer better cost-efficiency for large-scale administrative deployment.</a:t>
            </a:r>
            <a:endParaRPr lang="en-US" sz="2000">
              <a:solidFill>
                <a:schemeClr val="tx1">
                  <a:alpha val="55000"/>
                </a:schemeClr>
              </a:solidFill>
            </a:endParaRPr>
          </a:p>
          <a:p>
            <a:pPr>
              <a:buAutoNum type="arabicPeriod"/>
            </a:pPr>
            <a:r>
              <a:rPr lang="en-US" sz="20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Dimension Standards:</a:t>
            </a:r>
            <a:r>
              <a:rPr lang="en-US" sz="20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 Stick to "Standard" size (16cm-17cm) for better ergonomics and case availability.</a:t>
            </a:r>
            <a:endParaRPr lang="en-US" sz="200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85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CEE8D-DF8C-6955-2BA9-DC5F1B67A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Final Conclusion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12A58-C96C-DCDB-823E-7EFB87BE6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The smartphone market is standardized on battery and dimensions but highly tiered based on </a:t>
            </a:r>
            <a:r>
              <a:rPr lang="en-US" sz="22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RAM</a:t>
            </a:r>
            <a:r>
              <a:rPr lang="en-US" sz="22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 and </a:t>
            </a:r>
            <a:r>
              <a:rPr lang="en-US" sz="22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Processor Brand</a:t>
            </a:r>
            <a:r>
              <a:rPr lang="en-US" sz="22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.</a:t>
            </a:r>
            <a:endParaRPr lang="en-US" sz="2200">
              <a:solidFill>
                <a:schemeClr val="tx1">
                  <a:alpha val="55000"/>
                </a:schemeClr>
              </a:solidFill>
            </a:endParaRPr>
          </a:p>
          <a:p>
            <a:r>
              <a:rPr lang="en-US" sz="22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Strategic procurement should focus on the </a:t>
            </a:r>
            <a:r>
              <a:rPr lang="en-US" sz="22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Mid-Range segment</a:t>
            </a:r>
            <a:r>
              <a:rPr lang="en-US" sz="22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 to maximize hardware lifespan while minimizing brand-tax expenditures.</a:t>
            </a:r>
            <a:endParaRPr lang="en-US" sz="2200">
              <a:solidFill>
                <a:schemeClr val="tx1">
                  <a:alpha val="55000"/>
                </a:schemeClr>
              </a:solidFill>
            </a:endParaRPr>
          </a:p>
          <a:p>
            <a:r>
              <a:rPr lang="en-US" sz="22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Data Integrity:</a:t>
            </a:r>
            <a:r>
              <a:rPr lang="en-US" sz="22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 Regular outlier checks in "Mobile Height" and "Price" are necessary to maintain accurate market forecasts.</a:t>
            </a:r>
            <a:endParaRPr lang="en-US" sz="2200">
              <a:solidFill>
                <a:schemeClr val="tx1">
                  <a:alpha val="55000"/>
                </a:schemeClr>
              </a:solidFill>
            </a:endParaRPr>
          </a:p>
          <a:p>
            <a:endParaRPr lang="en-US" sz="220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360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Comprehensive Data Analysis of Mobile Phones Dataset</vt:lpstr>
      <vt:lpstr>Project Overview &amp; Objectives</vt:lpstr>
      <vt:lpstr>Data Cleaning &amp; Preprocessing</vt:lpstr>
      <vt:lpstr>Feature Engineering</vt:lpstr>
      <vt:lpstr>Univariate Analysis: Hardware Distribution</vt:lpstr>
      <vt:lpstr>Univariate Analysis: Brand &amp; Processor Trends</vt:lpstr>
      <vt:lpstr>Bivariate Analysis: Feature Combinations</vt:lpstr>
      <vt:lpstr>Bivariate Analysis: The Price Drivers</vt:lpstr>
      <vt:lpstr>Multivariate Analysis: Deep Dive</vt:lpstr>
      <vt:lpstr>Segment Analysis (Engineered Insight)</vt:lpstr>
      <vt:lpstr>Key Takeaways for NHIS Procurement</vt:lpstr>
      <vt:lpstr>Final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153</cp:revision>
  <dcterms:created xsi:type="dcterms:W3CDTF">2026-04-26T19:49:09Z</dcterms:created>
  <dcterms:modified xsi:type="dcterms:W3CDTF">2026-04-27T09:22:24Z</dcterms:modified>
</cp:coreProperties>
</file>